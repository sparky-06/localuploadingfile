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 Medium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Nunito Medium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hVY5V+hnmNHNqL7BwVsXSHF6zL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NunitoMedium-bold.fntdata"/><Relationship Id="rId27" Type="http://schemas.openxmlformats.org/officeDocument/2006/relationships/font" Target="fonts/Nunito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Nunito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font" Target="fonts/RobotoMonoMedium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Medium-italic.fntdata"/><Relationship Id="rId16" Type="http://schemas.openxmlformats.org/officeDocument/2006/relationships/font" Target="fonts/RobotoMonoMedium-bold.fntdata"/><Relationship Id="rId19" Type="http://schemas.openxmlformats.org/officeDocument/2006/relationships/font" Target="fonts/Nunito-regular.fntdata"/><Relationship Id="rId18" Type="http://schemas.openxmlformats.org/officeDocument/2006/relationships/font" Target="fonts/RobotoMono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7f6c52d9a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17f6c52d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f51dd90ee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bf51dd90e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f51dd90ee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bf51dd90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21.jp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jp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9" r="8" t="0"/>
          <a:stretch/>
        </p:blipFill>
        <p:spPr>
          <a:xfrm>
            <a:off x="0" y="-1"/>
            <a:ext cx="9143997" cy="51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1422" y="4066437"/>
            <a:ext cx="2423875" cy="11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890751" y="2214695"/>
            <a:ext cx="444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400">
                <a:latin typeface="Roboto Mono"/>
                <a:ea typeface="Roboto Mono"/>
                <a:cs typeface="Roboto Mono"/>
                <a:sym typeface="Roboto Mono"/>
              </a:rPr>
              <a:t>AgriAI</a:t>
            </a:r>
            <a:r>
              <a:rPr lang="en-US" sz="23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i="1" lang="en-US" sz="1100">
                <a:latin typeface="Roboto Mono"/>
                <a:ea typeface="Roboto Mono"/>
                <a:cs typeface="Roboto Mono"/>
                <a:sym typeface="Roboto Mono"/>
              </a:rPr>
              <a:t>An AI assisted IoT </a:t>
            </a:r>
            <a:r>
              <a:rPr i="1" lang="en-US" sz="1100">
                <a:latin typeface="Roboto Mono"/>
                <a:ea typeface="Roboto Mono"/>
                <a:cs typeface="Roboto Mono"/>
                <a:sym typeface="Roboto Mono"/>
              </a:rPr>
              <a:t>platform</a:t>
            </a:r>
            <a:r>
              <a:rPr i="1" lang="en-US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i="1" sz="1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890752" y="3136988"/>
            <a:ext cx="40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Team Name: Data</a:t>
            </a:r>
            <a:r>
              <a:rPr b="1" lang="en-US" sz="1500">
                <a:latin typeface="Roboto Mono"/>
                <a:ea typeface="Roboto Mono"/>
                <a:cs typeface="Roboto Mono"/>
                <a:sym typeface="Roboto Mono"/>
              </a:rPr>
              <a:t>baes</a:t>
            </a:r>
            <a:endParaRPr b="1" i="0" sz="15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890751" y="3733007"/>
            <a:ext cx="40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Domain: IoT and Sm</a:t>
            </a:r>
            <a:r>
              <a:rPr b="1" lang="en-US" sz="1500">
                <a:latin typeface="Roboto Mono"/>
                <a:ea typeface="Roboto Mono"/>
                <a:cs typeface="Roboto Mono"/>
                <a:sym typeface="Roboto Mono"/>
              </a:rPr>
              <a:t>art Devices</a:t>
            </a:r>
            <a:endParaRPr b="1" i="0" sz="15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250290" y="-1"/>
            <a:ext cx="968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2A2E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4101" y="4485125"/>
            <a:ext cx="25593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750" y="191425"/>
            <a:ext cx="3227274" cy="17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6400" y="998525"/>
            <a:ext cx="1402375" cy="168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/>
        </p:nvSpPr>
        <p:spPr>
          <a:xfrm>
            <a:off x="116700" y="0"/>
            <a:ext cx="47361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r>
              <a:rPr b="0" i="0" lang="en-US" sz="2702" u="sng" cap="none" strike="noStrike">
                <a:solidFill>
                  <a:srgbClr val="EA4335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3320" u="sng" cap="none" strike="noStrike">
              <a:solidFill>
                <a:srgbClr val="EA43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7442" y="0"/>
            <a:ext cx="297655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>
            <p:ph idx="1" type="body"/>
          </p:nvPr>
        </p:nvSpPr>
        <p:spPr>
          <a:xfrm>
            <a:off x="116700" y="822325"/>
            <a:ext cx="6050700" cy="30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3218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ct val="94565"/>
              <a:buFont typeface="Roboto Mono"/>
              <a:buChar char="-"/>
            </a:pPr>
            <a:r>
              <a:rPr b="1" lang="en-US" sz="2760">
                <a:solidFill>
                  <a:srgbClr val="0F9D58"/>
                </a:solidFill>
                <a:latin typeface="Roboto Mono"/>
                <a:ea typeface="Roboto Mono"/>
                <a:cs typeface="Roboto Mono"/>
                <a:sym typeface="Roboto Mono"/>
              </a:rPr>
              <a:t>What problem are you looking to solve?</a:t>
            </a:r>
            <a:endParaRPr b="1" sz="2760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8982"/>
              <a:buFont typeface="Arial"/>
              <a:buNone/>
            </a:pPr>
            <a:r>
              <a:rPr lang="en-US" sz="2245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We are looking to solve the lack of technology-driven decision support in Indian farming, where limited use of real-time data and predictive analytics leads to suboptimal yields. This gap results in inefficient resource use, reduced productivity, and significant financial losses from failed or underperforming harvests.</a:t>
            </a:r>
            <a:endParaRPr sz="2245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700" y="4486150"/>
            <a:ext cx="2171526" cy="5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502" u="sng">
                <a:solidFill>
                  <a:srgbClr val="0F9D58"/>
                </a:solidFill>
                <a:latin typeface="Arial"/>
                <a:ea typeface="Arial"/>
                <a:cs typeface="Arial"/>
                <a:sym typeface="Arial"/>
              </a:rPr>
              <a:t>Product Idea</a:t>
            </a:r>
            <a:endParaRPr sz="2502" u="sng">
              <a:solidFill>
                <a:srgbClr val="0F9D5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 u="sng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11700" y="692500"/>
            <a:ext cx="4843500" cy="3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528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680"/>
              <a:buFont typeface="Roboto Mono"/>
              <a:buChar char="-"/>
            </a:pPr>
            <a:r>
              <a:rPr b="1" lang="en-US" sz="1679">
                <a:solidFill>
                  <a:srgbClr val="EA4335"/>
                </a:solidFill>
                <a:latin typeface="Roboto Mono"/>
                <a:ea typeface="Roboto Mono"/>
                <a:cs typeface="Roboto Mono"/>
                <a:sym typeface="Roboto Mono"/>
              </a:rPr>
              <a:t>How does your Product solve the problem?</a:t>
            </a:r>
            <a:endParaRPr b="1" sz="1679">
              <a:solidFill>
                <a:srgbClr val="EA433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79">
              <a:solidFill>
                <a:srgbClr val="EA433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We aim to develop </a:t>
            </a:r>
            <a:r>
              <a:rPr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an </a:t>
            </a:r>
            <a:r>
              <a:rPr b="1"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AI assisted IOT based platform</a:t>
            </a:r>
            <a:r>
              <a:rPr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 to predict </a:t>
            </a:r>
            <a:r>
              <a:rPr b="1"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crop yields</a:t>
            </a:r>
            <a:r>
              <a:rPr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 using historical and </a:t>
            </a:r>
            <a:r>
              <a:rPr b="1"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real time</a:t>
            </a:r>
            <a:r>
              <a:rPr lang="en-US" sz="1450">
                <a:solidFill>
                  <a:srgbClr val="0C0E1D"/>
                </a:solidFill>
                <a:latin typeface="Roboto Mono"/>
                <a:ea typeface="Roboto Mono"/>
                <a:cs typeface="Roboto Mono"/>
                <a:sym typeface="Roboto Mono"/>
              </a:rPr>
              <a:t> agricultural data, weather patterns, and soil health metrics. The system providesactionable recommendations for farmers to optimize irrigation, fertilization, and pest control, tailored to specific crops and regional conditions.</a:t>
            </a:r>
            <a:endParaRPr sz="1450">
              <a:solidFill>
                <a:srgbClr val="0C0E1D"/>
              </a:solidFill>
              <a:highlight>
                <a:schemeClr val="lt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79">
              <a:solidFill>
                <a:srgbClr val="EA433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226" y="0"/>
            <a:ext cx="353377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700" y="4501150"/>
            <a:ext cx="2111599" cy="5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502" u="sng">
                <a:solidFill>
                  <a:srgbClr val="0C5ADB"/>
                </a:solidFill>
                <a:latin typeface="Arial"/>
                <a:ea typeface="Arial"/>
                <a:cs typeface="Arial"/>
                <a:sym typeface="Arial"/>
              </a:rPr>
              <a:t>Additional Info</a:t>
            </a:r>
            <a:endParaRPr sz="2502" u="sng">
              <a:solidFill>
                <a:srgbClr val="0C5AD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 u="sng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275" y="4551300"/>
            <a:ext cx="2068249" cy="5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 txBox="1"/>
          <p:nvPr/>
        </p:nvSpPr>
        <p:spPr>
          <a:xfrm>
            <a:off x="605850" y="1006950"/>
            <a:ext cx="6899400" cy="3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are developing a crop yield prediction system, which combines different </a:t>
            </a:r>
            <a:r>
              <a:rPr b="1" i="1"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machine-learning models into a hybrid stack, consisting of XGBoost, ARIMAX-LSTM sequence modelling, and ridge regression to obtain sound and bias-free predictions</a:t>
            </a: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The farmers enter their </a:t>
            </a:r>
            <a:r>
              <a:rPr b="1" i="1"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district/location, crop, plot size, and date sown</a:t>
            </a: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which is then matched with historical weather data (30+ years) for that district (temperature, rainfall, soil moisture), crop yield data, and a 10-year daily NASA-POWER weather layer of precipitation, air temperature at 2 m, shortwave radiation, and humidity. XGBoost is used to obtain the patterns of yields at the district level, whereas ARIMAX-LSTM obtains the most recent exogenous variables such as</a:t>
            </a:r>
            <a:r>
              <a:rPr b="1" i="1"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rolling NDVI of Oceansat-2/Bhuvan Store</a:t>
            </a: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local weather and irrigation to get dynamic yield outputs, all synced to crop seasons to prevent</a:t>
            </a:r>
            <a:r>
              <a:rPr b="1" i="1"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look-ahead bias.</a:t>
            </a:r>
            <a:endParaRPr b="1"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map NPK mixes of fertilizers to each crop algorithmically, and we schedule irrigation with </a:t>
            </a:r>
            <a:r>
              <a:rPr b="1" i="1"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FAO-56 evapotranspiration equations</a:t>
            </a: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(pyfao56) adjusted with a </a:t>
            </a:r>
            <a:r>
              <a:rPr b="1" i="1"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Random-Forest residual model </a:t>
            </a: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that has been trained on local historical versus forecast ETo and crop-specific Kc curves.</a:t>
            </a:r>
            <a:r>
              <a:rPr b="1" i="1"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Lastly, the system produces spot-specific yield estimates and 7-day practical irrigation plans.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17f6c52d9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17f6c52d9a_0_7"/>
          <p:cNvSpPr txBox="1"/>
          <p:nvPr/>
        </p:nvSpPr>
        <p:spPr>
          <a:xfrm>
            <a:off x="116700" y="0"/>
            <a:ext cx="47361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2"/>
              <a:buFont typeface="Arial"/>
              <a:buNone/>
            </a:pPr>
            <a:r>
              <a:rPr b="0" i="0" lang="en-US" sz="2702" u="sng" cap="none" strike="noStrike">
                <a:solidFill>
                  <a:srgbClr val="EA4335"/>
                </a:solidFill>
                <a:latin typeface="Arial"/>
                <a:ea typeface="Arial"/>
                <a:cs typeface="Arial"/>
                <a:sym typeface="Arial"/>
              </a:rPr>
              <a:t>How Unique is it?</a:t>
            </a:r>
            <a:endParaRPr b="0" i="0" sz="3320" u="sng" cap="none" strike="noStrike">
              <a:solidFill>
                <a:srgbClr val="EA43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17f6c52d9a_0_7"/>
          <p:cNvSpPr txBox="1"/>
          <p:nvPr>
            <p:ph idx="1" type="body"/>
          </p:nvPr>
        </p:nvSpPr>
        <p:spPr>
          <a:xfrm>
            <a:off x="116700" y="822325"/>
            <a:ext cx="6050700" cy="30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58"/>
              </a:buClr>
              <a:buSzPts val="1650"/>
              <a:buFont typeface="Roboto Mono"/>
              <a:buChar char="-"/>
            </a:pPr>
            <a:r>
              <a:rPr b="1" lang="en-US">
                <a:solidFill>
                  <a:srgbClr val="0F9D58"/>
                </a:solidFill>
                <a:latin typeface="Roboto Mono"/>
                <a:ea typeface="Roboto Mono"/>
                <a:cs typeface="Roboto Mono"/>
                <a:sym typeface="Roboto Mono"/>
              </a:rPr>
              <a:t>Existing Work vs Coined Novelty</a:t>
            </a:r>
            <a:endParaRPr b="1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4" name="Google Shape;94;g317f6c52d9a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2325" y="4541300"/>
            <a:ext cx="2108200" cy="5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17f6c52d9a_0_7"/>
          <p:cNvSpPr txBox="1"/>
          <p:nvPr/>
        </p:nvSpPr>
        <p:spPr>
          <a:xfrm>
            <a:off x="510475" y="1440400"/>
            <a:ext cx="3505500" cy="274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D58"/>
                </a:solidFill>
                <a:latin typeface="Roboto Mono"/>
                <a:ea typeface="Roboto Mono"/>
                <a:cs typeface="Roboto Mono"/>
                <a:sym typeface="Roboto Mono"/>
              </a:rPr>
              <a:t>Existing Work:</a:t>
            </a:r>
            <a:endParaRPr b="1" sz="1800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03030"/>
                </a:solidFill>
                <a:latin typeface="Roboto Mono"/>
                <a:ea typeface="Roboto Mono"/>
                <a:cs typeface="Roboto Mono"/>
                <a:sym typeface="Roboto Mono"/>
              </a:rPr>
              <a:t>Current solutions in India offer satellite-based farm analytics, advisory apps, input marketplaces, and remote sensing yield indicators. However, these are mostly stand-alone services with limited real-time field sensing and execution support.</a:t>
            </a:r>
            <a:endParaRPr sz="1300">
              <a:solidFill>
                <a:srgbClr val="30303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g317f6c52d9a_0_7"/>
          <p:cNvSpPr txBox="1"/>
          <p:nvPr/>
        </p:nvSpPr>
        <p:spPr>
          <a:xfrm>
            <a:off x="4485450" y="1420450"/>
            <a:ext cx="3335700" cy="274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D58"/>
                </a:solidFill>
                <a:latin typeface="Roboto Mono"/>
                <a:ea typeface="Roboto Mono"/>
                <a:cs typeface="Roboto Mono"/>
                <a:sym typeface="Roboto Mono"/>
              </a:rPr>
              <a:t>Coined Novelty:</a:t>
            </a:r>
            <a:endParaRPr sz="1800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Very few solutions tightly integrate field-level NPK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microclimate + hybrid bias-aware ML models + operational FAO-56 irrigation recommendations + low-bandwidth connectivity, and farmer-friendly interfaces (voice + marketplace escrow), creating an end-to-end actionable system tailored for smallholder conditions.</a:t>
            </a:r>
            <a:endParaRPr sz="1900">
              <a:solidFill>
                <a:srgbClr val="0F9D5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502" u="sng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sz="2502" u="sng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 u="sng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>
            <a:off x="1988684" y="774016"/>
            <a:ext cx="4136619" cy="3406559"/>
            <a:chOff x="835173" y="1476"/>
            <a:chExt cx="4136619" cy="3406559"/>
          </a:xfrm>
        </p:grpSpPr>
        <p:sp>
          <p:nvSpPr>
            <p:cNvPr id="104" name="Google Shape;104;p4"/>
            <p:cNvSpPr/>
            <p:nvPr/>
          </p:nvSpPr>
          <p:spPr>
            <a:xfrm rot="10800000">
              <a:off x="1110160" y="1476"/>
              <a:ext cx="3861632" cy="549974"/>
            </a:xfrm>
            <a:prstGeom prst="homePlate">
              <a:avLst>
                <a:gd fmla="val 50000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1247653" y="1476"/>
              <a:ext cx="3724139" cy="549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242500" spcFirstLastPara="1" rIns="18490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Framework?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835173" y="1476"/>
              <a:ext cx="549974" cy="549974"/>
            </a:xfrm>
            <a:prstGeom prst="ellipse">
              <a:avLst/>
            </a:prstGeom>
            <a:solidFill>
              <a:srgbClr val="BCCCF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 rot="10800000">
              <a:off x="1110160" y="715622"/>
              <a:ext cx="3861632" cy="549974"/>
            </a:xfrm>
            <a:prstGeom prst="homePlate">
              <a:avLst>
                <a:gd fmla="val 50000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1247653" y="715622"/>
              <a:ext cx="3724139" cy="549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242500" spcFirstLastPara="1" rIns="18490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Database?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835173" y="715622"/>
              <a:ext cx="549974" cy="549974"/>
            </a:xfrm>
            <a:prstGeom prst="ellipse">
              <a:avLst/>
            </a:prstGeom>
            <a:solidFill>
              <a:srgbClr val="BCCCF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 rot="10800000">
              <a:off x="1110160" y="1429768"/>
              <a:ext cx="3861632" cy="549974"/>
            </a:xfrm>
            <a:prstGeom prst="homePlate">
              <a:avLst>
                <a:gd fmla="val 50000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 txBox="1"/>
            <p:nvPr/>
          </p:nvSpPr>
          <p:spPr>
            <a:xfrm>
              <a:off x="1247653" y="1429768"/>
              <a:ext cx="3724139" cy="549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242500" spcFirstLastPara="1" rIns="18490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APIs?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835173" y="1429768"/>
              <a:ext cx="549974" cy="549974"/>
            </a:xfrm>
            <a:prstGeom prst="ellipse">
              <a:avLst/>
            </a:prstGeom>
            <a:solidFill>
              <a:srgbClr val="BCCCF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 rot="10800000">
              <a:off x="1110160" y="2143914"/>
              <a:ext cx="3861632" cy="549974"/>
            </a:xfrm>
            <a:prstGeom prst="homePlate">
              <a:avLst>
                <a:gd fmla="val 50000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 txBox="1"/>
            <p:nvPr/>
          </p:nvSpPr>
          <p:spPr>
            <a:xfrm>
              <a:off x="1247653" y="2143914"/>
              <a:ext cx="3724139" cy="549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242500" spcFirstLastPara="1" rIns="18490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ML?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835173" y="2143914"/>
              <a:ext cx="549974" cy="549974"/>
            </a:xfrm>
            <a:prstGeom prst="ellipse">
              <a:avLst/>
            </a:prstGeom>
            <a:solidFill>
              <a:srgbClr val="BCCCF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 rot="10800000">
              <a:off x="1110160" y="2858061"/>
              <a:ext cx="3861632" cy="549974"/>
            </a:xfrm>
            <a:prstGeom prst="homePlate">
              <a:avLst>
                <a:gd fmla="val 50000" name="adj"/>
              </a:avLst>
            </a:prstGeom>
            <a:solidFill>
              <a:srgbClr val="4185F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1247653" y="2858061"/>
              <a:ext cx="3724139" cy="549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242500" spcFirstLastPara="1" rIns="18490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Sky is the Limit?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5173" y="2858061"/>
              <a:ext cx="549974" cy="549974"/>
            </a:xfrm>
            <a:prstGeom prst="ellipse">
              <a:avLst/>
            </a:prstGeom>
            <a:solidFill>
              <a:srgbClr val="BCCCFA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2350" y="4538800"/>
            <a:ext cx="2118176" cy="5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bf51dd90e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bf51dd90ee_0_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502" u="sng">
                <a:solidFill>
                  <a:schemeClr val="accent4"/>
                </a:solidFill>
              </a:rPr>
              <a:t>IOT </a:t>
            </a:r>
            <a:r>
              <a:rPr lang="en-US" sz="2502" u="sng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sz="2502" u="sng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 u="sng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bf51dd90ee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2350" y="4538800"/>
            <a:ext cx="2118176" cy="5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bf51dd90ee_0_24"/>
          <p:cNvSpPr txBox="1"/>
          <p:nvPr/>
        </p:nvSpPr>
        <p:spPr>
          <a:xfrm>
            <a:off x="2610675" y="904075"/>
            <a:ext cx="2404800" cy="3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Connectivity Layer</a:t>
            </a:r>
            <a:endParaRPr b="1"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LoRa (RYLR998) for long-range rural communication</a:t>
            </a:r>
            <a:b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LoRa Gateway (Wi-Fi / 4G backhaul)</a:t>
            </a:r>
            <a:b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MQTT / HTTPS data transmission</a:t>
            </a:r>
            <a:b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TLS-based secure communication</a:t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8" name="Google Shape;128;g3bf51dd90ee_0_24"/>
          <p:cNvSpPr txBox="1"/>
          <p:nvPr/>
        </p:nvSpPr>
        <p:spPr>
          <a:xfrm>
            <a:off x="205875" y="904075"/>
            <a:ext cx="24048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Edge / Field Layer</a:t>
            </a:r>
            <a:endParaRPr b="1"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Medium"/>
              <a:buChar char="●"/>
            </a:pPr>
            <a: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ESP32 microcontroller</a:t>
            </a:r>
            <a:b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endParaRPr sz="11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Medium"/>
              <a:buChar char="●"/>
            </a:pPr>
            <a: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ZTS-3002 soil sensor (Moisture, Temperature, pH, NPK)</a:t>
            </a:r>
            <a:b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endParaRPr sz="11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Medium"/>
              <a:buChar char="●"/>
            </a:pPr>
            <a: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DHT11 air temperature &amp; humidity sensor</a:t>
            </a:r>
            <a:b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endParaRPr sz="11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Medium"/>
              <a:buChar char="●"/>
            </a:pPr>
            <a: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RTC module for timestamping</a:t>
            </a:r>
            <a:b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endParaRPr sz="11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Medium"/>
              <a:buChar char="●"/>
            </a:pPr>
            <a: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Li-Po battery with deep sleep power optimization</a:t>
            </a:r>
            <a:b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</a:br>
            <a:endParaRPr sz="11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Medium"/>
              <a:buChar char="●"/>
            </a:pPr>
            <a:r>
              <a:rPr lang="en-US" sz="11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Edge preprocessing: validation, filtering, normalization</a:t>
            </a:r>
            <a:endParaRPr sz="11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29" name="Google Shape;129;g3bf51dd90ee_0_24"/>
          <p:cNvSpPr txBox="1"/>
          <p:nvPr/>
        </p:nvSpPr>
        <p:spPr>
          <a:xfrm>
            <a:off x="5015476" y="898950"/>
            <a:ext cx="28431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Cloud &amp; Data Layer</a:t>
            </a:r>
            <a:endParaRPr b="1" sz="17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Cloud Platform: AWS / Azure / GCP</a:t>
            </a:r>
            <a:b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Time-Series Database: InfluxDB</a:t>
            </a:r>
            <a:b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Relational Database: PostgreSQL</a:t>
            </a:r>
            <a:b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External Data: NASA POWER, OpenWeather API, Bhuvan NDVI</a:t>
            </a:r>
            <a:b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●"/>
            </a:pPr>
            <a:r>
              <a:rPr lang="en-US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ETL &amp; Feature Engineering: Python (Pandas, NumPy)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bf51dd90ee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bf51dd90ee_0_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502" u="sng">
                <a:solidFill>
                  <a:schemeClr val="accent4"/>
                </a:solidFill>
              </a:rPr>
              <a:t>Software </a:t>
            </a:r>
            <a:r>
              <a:rPr lang="en-US" sz="2502" u="sng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 sz="2502" u="sng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 u="sng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bf51dd90ee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2350" y="4538800"/>
            <a:ext cx="2118176" cy="5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bf51dd90ee_0_2"/>
          <p:cNvSpPr txBox="1"/>
          <p:nvPr/>
        </p:nvSpPr>
        <p:spPr>
          <a:xfrm>
            <a:off x="2437410" y="1332056"/>
            <a:ext cx="16056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BACKEND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REST API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Flask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lang="en-U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Cryptography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Supabase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FastAPI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PostgreSQL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g3bf51dd90ee_0_2"/>
          <p:cNvSpPr txBox="1"/>
          <p:nvPr/>
        </p:nvSpPr>
        <p:spPr>
          <a:xfrm>
            <a:off x="164513" y="1332050"/>
            <a:ext cx="21423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MACHINE LEARNING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Medium"/>
              <a:buChar char="●"/>
            </a:pPr>
            <a:r>
              <a:rPr lang="en-US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Render</a:t>
            </a:r>
            <a:endParaRPr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Medium"/>
              <a:buChar char="●"/>
            </a:pPr>
            <a:r>
              <a:rPr lang="en-US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XGBoost</a:t>
            </a:r>
            <a:endParaRPr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Medium"/>
              <a:buChar char="●"/>
            </a:pPr>
            <a:r>
              <a:rPr lang="en-US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RandomForest</a:t>
            </a:r>
            <a:endParaRPr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Medium"/>
              <a:buChar char="●"/>
            </a:pPr>
            <a:r>
              <a:rPr lang="en-US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ARIMAX-LSTM hybrid models</a:t>
            </a:r>
            <a:endParaRPr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Medium"/>
              <a:buChar char="●"/>
            </a:pPr>
            <a:r>
              <a:rPr lang="en-US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PyFAO-56 libraries</a:t>
            </a:r>
            <a:endParaRPr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Medium"/>
              <a:buChar char="●"/>
            </a:pPr>
            <a:r>
              <a:rPr lang="en-US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Jupyter Notebook</a:t>
            </a:r>
            <a:endParaRPr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9" name="Google Shape;139;g3bf51dd90ee_0_2"/>
          <p:cNvSpPr txBox="1"/>
          <p:nvPr/>
        </p:nvSpPr>
        <p:spPr>
          <a:xfrm>
            <a:off x="4207973" y="1332043"/>
            <a:ext cx="19047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WEBDEV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React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Tailwind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Framer motion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Vite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g3bf51dd90ee_0_2"/>
          <p:cNvSpPr txBox="1"/>
          <p:nvPr/>
        </p:nvSpPr>
        <p:spPr>
          <a:xfrm>
            <a:off x="6112675" y="1332050"/>
            <a:ext cx="29742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CHATBOT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WebRTC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AI4Bharat Indic-Automatic Speech Recognition (ASR)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AI4Bharat Indic-Text-to-Speech (TTS)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AI4Bharat Indic-Bert (LLM)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WebAudio API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-U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Twilio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1" name="Google Shape;141;g3bf51dd90ee_0_2" title="69502895.jpeg"/>
          <p:cNvPicPr preferRelativeResize="0"/>
          <p:nvPr/>
        </p:nvPicPr>
        <p:blipFill rotWithShape="1">
          <a:blip r:embed="rId5">
            <a:alphaModFix/>
          </a:blip>
          <a:srcRect b="17333" l="0" r="0" t="17333"/>
          <a:stretch/>
        </p:blipFill>
        <p:spPr>
          <a:xfrm>
            <a:off x="1793700" y="4035775"/>
            <a:ext cx="1887999" cy="1233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2" name="Google Shape;142;g3bf51dd90ee_0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035775"/>
            <a:ext cx="1793700" cy="1233501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3" name="Google Shape;143;g3bf51dd90ee_0_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1700" y="4035775"/>
            <a:ext cx="1888000" cy="1233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4" name="Google Shape;144;g3bf51dd90ee_0_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69700" y="4035775"/>
            <a:ext cx="1793702" cy="1233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5" name="Google Shape;145;g3bf51dd90ee_0_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56000" y="4035775"/>
            <a:ext cx="1887999" cy="12335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35687" r="-1" t="0"/>
          <a:stretch/>
        </p:blipFill>
        <p:spPr>
          <a:xfrm flipH="1">
            <a:off x="-2" y="5"/>
            <a:ext cx="5856891" cy="514370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 flipH="1">
            <a:off x="1633500" y="1269118"/>
            <a:ext cx="29385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ckathon 2022" id="152" name="Google Shape;152;p6"/>
          <p:cNvPicPr preferRelativeResize="0"/>
          <p:nvPr/>
        </p:nvPicPr>
        <p:blipFill rotWithShape="1">
          <a:blip r:embed="rId4">
            <a:alphaModFix/>
          </a:blip>
          <a:srcRect b="28936" l="11701" r="8638" t="13608"/>
          <a:stretch/>
        </p:blipFill>
        <p:spPr>
          <a:xfrm>
            <a:off x="5961054" y="1568668"/>
            <a:ext cx="3246008" cy="234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868218"/>
            <a:ext cx="4572000" cy="2884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" y="4753082"/>
            <a:ext cx="4572001" cy="39041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 txBox="1"/>
          <p:nvPr/>
        </p:nvSpPr>
        <p:spPr>
          <a:xfrm>
            <a:off x="0" y="1890656"/>
            <a:ext cx="4035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Lead: Ritvik Bhat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Email: ritvikarunbhat@gmail.co</a:t>
            </a:r>
            <a:r>
              <a:rPr b="1" lang="en-US" sz="1200"/>
              <a:t>m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Phone: 9930435569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1: </a:t>
            </a:r>
            <a:r>
              <a:rPr b="1" lang="en-US" sz="1200"/>
              <a:t>Keerti Krishna Likhita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Email:</a:t>
            </a:r>
            <a:r>
              <a:rPr b="1" i="0" lang="en-U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303030"/>
                </a:solidFill>
                <a:latin typeface="Nunito Medium"/>
                <a:ea typeface="Nunito Medium"/>
                <a:cs typeface="Nunito Medium"/>
                <a:sym typeface="Nunito Medium"/>
              </a:rPr>
              <a:t>keerti.likhita2@gmail.com</a:t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Phone: </a:t>
            </a:r>
            <a:r>
              <a:rPr lang="en-US" sz="12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7249755897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2: Ad</a:t>
            </a:r>
            <a:r>
              <a:rPr b="1" lang="en-US" sz="1200"/>
              <a:t>itya Kumar Sharma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Email: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shradi0612@gmail.com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Phone:  </a:t>
            </a:r>
            <a:r>
              <a:rPr lang="en-US" sz="12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9981521140</a:t>
            </a:r>
            <a:endParaRPr sz="700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 3: Shivansh Sood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Email: </a:t>
            </a:r>
            <a:r>
              <a:rPr lang="en-US" sz="12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sood.shivansh13@gmail.com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Phone: </a:t>
            </a:r>
            <a:r>
              <a:rPr lang="en-US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8595788540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4401" y="154775"/>
            <a:ext cx="2559300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